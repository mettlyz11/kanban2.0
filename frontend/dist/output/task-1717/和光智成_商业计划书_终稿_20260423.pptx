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和光智成商业计划书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版本：V3.0（终稿）</a:t>
            </a:r>
            <a:r>
              <a:rPr/>
              <a:t> </a:t>
            </a:r>
            <a:r>
              <a:rPr b="1"/>
              <a:t>日期：2026年4月23日</a:t>
            </a:r>
            <a:r>
              <a:rPr/>
              <a:t> </a:t>
            </a:r>
            <a:r>
              <a:rPr b="1"/>
              <a:t>编制单位：和光智成（北京）科技有限公司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目录</a:t>
            </a:r>
          </a:p>
          <a:p>
            <a:pPr lvl="0" indent="-342900" marL="342900">
              <a:buAutoNum type="arabicPeriod"/>
            </a:pPr>
            <a:r>
              <a:rPr/>
              <a:t>执行摘要</a:t>
            </a:r>
          </a:p>
          <a:p>
            <a:pPr lvl="0" indent="-342900" marL="342900">
              <a:buAutoNum type="arabicPeriod"/>
            </a:pPr>
            <a:r>
              <a:rPr/>
              <a:t>市场分析</a:t>
            </a:r>
          </a:p>
          <a:p>
            <a:pPr lvl="0" indent="-342900" marL="342900">
              <a:buAutoNum type="arabicPeriod"/>
            </a:pPr>
            <a:r>
              <a:rPr/>
              <a:t>核心产品与技术</a:t>
            </a:r>
          </a:p>
          <a:p>
            <a:pPr lvl="0" indent="-342900" marL="342900">
              <a:buAutoNum type="arabicPeriod"/>
            </a:pPr>
            <a:r>
              <a:rPr/>
              <a:t>商业模式与落地路径</a:t>
            </a:r>
          </a:p>
          <a:p>
            <a:pPr lvl="0" indent="-342900" marL="342900">
              <a:buAutoNum type="arabicPeriod"/>
            </a:pPr>
            <a:r>
              <a:rPr/>
              <a:t>竞争格局与核心优势</a:t>
            </a:r>
          </a:p>
          <a:p>
            <a:pPr lvl="0" indent="-342900" marL="342900">
              <a:buAutoNum type="arabicPeriod"/>
            </a:pPr>
            <a:r>
              <a:rPr/>
              <a:t>核心团队介绍</a:t>
            </a:r>
          </a:p>
          <a:p>
            <a:pPr lvl="0" indent="-342900" marL="342900">
              <a:buAutoNum type="arabicPeriod"/>
            </a:pPr>
            <a:r>
              <a:rPr/>
              <a:t>5年财务预测模型</a:t>
            </a:r>
          </a:p>
          <a:p>
            <a:pPr lvl="0" indent="-342900" marL="342900">
              <a:buAutoNum type="arabicPeriod"/>
            </a:pPr>
            <a:r>
              <a:rPr/>
              <a:t>融资计划与资金用途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执行摘要</a:t>
            </a:r>
          </a:p>
          <a:p>
            <a:pPr lvl="0" indent="0" marL="0">
              <a:buNone/>
            </a:pPr>
            <a:r>
              <a:rPr/>
              <a:t>和光智成是国内领先的AI材料科学解决方案服务商，由北京航空航天大学化学学院刘宇宙教授创办，核心技术团队来自北航、中科院、清华等顶尖科研机构，拥有20+项材料AI相关发明专利。</a:t>
            </a:r>
          </a:p>
          <a:p>
            <a:pPr lvl="0" indent="0" marL="0">
              <a:buNone/>
            </a:pPr>
            <a:r>
              <a:rPr/>
              <a:t>公司依托自主研发的材料大模型”光智1.0”，为新材料研发企业、高校科研院所、工业制造企业提供AI辅助材料研发全流程服务，可将材料研发周期缩短70%，研发成本降低60%。</a:t>
            </a:r>
          </a:p>
          <a:p>
            <a:pPr lvl="0" indent="0" marL="0">
              <a:buNone/>
            </a:pPr>
            <a:r>
              <a:rPr/>
              <a:t>当前已落地服务30+付费客户，包括中建材、宁德时代、中石化等行业龙头，2025年营收突破1200万元，增速超300%。本次融资计划释放10%股权，融资5000万元，用于产品迭代、市场拓展和团队扩张，预计2028年实现IPO申报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市场分析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行业背景</a:t>
            </a:r>
          </a:p>
          <a:p>
            <a:pPr lvl="0" indent="0" marL="0">
              <a:buNone/>
            </a:pPr>
            <a:r>
              <a:rPr/>
              <a:t>全球新材料市场规模超2万亿美元，中国占比超35%，是全球最大的新材料生产和消费国。传统材料研发依赖”试错法”，平均研发周期10-20年，研发成本超1亿美元，效率极低。 AI+材料科学是行业公认的下一代研发范式，全球市场规模预计2030年突破3000亿元，年复合增长率超45%，处于爆发前夜。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政策利好</a:t>
            </a:r>
          </a:p>
          <a:p>
            <a:pPr lvl="0" indent="0" marL="0">
              <a:buNone/>
            </a:pPr>
            <a:r>
              <a:rPr/>
              <a:t>国家”十四五”新材料产业发展规划明确将AI辅助材料研发列为核心支持方向，各级政府累计出台20+专项政策，提供研发补贴、税收优惠等多重支持。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 痛点分析</a:t>
            </a:r>
          </a:p>
          <a:p>
            <a:pPr lvl="0"/>
            <a:r>
              <a:rPr/>
              <a:t>高校/科研院所：研发效率低，实验数据难以沉淀复用</a:t>
            </a:r>
          </a:p>
          <a:p>
            <a:pPr lvl="0"/>
            <a:r>
              <a:rPr/>
              <a:t>企业：研发成本高，新品上市慢，难以应对快速变化的市场需求</a:t>
            </a:r>
          </a:p>
          <a:p>
            <a:pPr lvl="0"/>
            <a:r>
              <a:rPr/>
              <a:t>行业：高端材料卡脖子问题突出，自主可控需求迫切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核心产品与技术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核心技术栈</a:t>
            </a:r>
          </a:p>
          <a:p>
            <a:pPr lvl="0" indent="-342900" marL="342900">
              <a:buAutoNum type="arabicPeriod"/>
            </a:pPr>
            <a:r>
              <a:rPr b="1"/>
              <a:t>光智1.0材料大模型</a:t>
            </a:r>
            <a:r>
              <a:rPr/>
              <a:t>：训练数据覆盖1亿+材料结构、性质、实验数据，参数规模7B，在材料性能预测、结构设计等任务上准确率超92%，领先行业平均水平15%。</a:t>
            </a:r>
          </a:p>
          <a:p>
            <a:pPr lvl="0" indent="-342900" marL="342900">
              <a:buAutoNum type="arabicPeriod"/>
            </a:pPr>
            <a:r>
              <a:rPr b="1"/>
              <a:t>AI辅助研发平台</a:t>
            </a:r>
            <a:r>
              <a:rPr/>
              <a:t>：提供材料性能预测、逆向结构设计、实验方案优化、数据管理四大核心功能，支持云端部署和本地私有化部署。</a:t>
            </a:r>
          </a:p>
          <a:p>
            <a:pPr lvl="0" indent="-342900" marL="342900">
              <a:buAutoNum type="arabicPeriod"/>
            </a:pPr>
            <a:r>
              <a:rPr b="1"/>
              <a:t>高通量计算与实验闭环</a:t>
            </a:r>
            <a:r>
              <a:rPr/>
              <a:t>：打通计算模拟-虚拟筛选-实验验证全流程，实现研发迭代自动化。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3.2 产品矩阵</a:t>
            </a:r>
          </a:p>
          <a:p>
            <a:pPr lvl="0" indent="-342900" marL="342900">
              <a:buAutoNum type="arabicPeriod"/>
            </a:pPr>
            <a:r>
              <a:rPr b="1"/>
              <a:t>科研版</a:t>
            </a:r>
            <a:r>
              <a:rPr/>
              <a:t>：面向高校、科研院所，提供轻量化研发工具，年费5-20万元。</a:t>
            </a:r>
          </a:p>
          <a:p>
            <a:pPr lvl="0" indent="-342900" marL="342900">
              <a:buAutoNum type="arabicPeriod"/>
            </a:pPr>
            <a:r>
              <a:rPr b="1"/>
              <a:t>企业版</a:t>
            </a:r>
            <a:r>
              <a:rPr/>
              <a:t>：面向新材料企业，提供定制化私有化部署，项目付费+年费，单客价值50-500万元。</a:t>
            </a:r>
          </a:p>
          <a:p>
            <a:pPr lvl="0" indent="-342900" marL="342900">
              <a:buAutoNum type="arabicPeriod"/>
            </a:pPr>
            <a:r>
              <a:rPr b="1"/>
              <a:t>联合研发服务</a:t>
            </a:r>
            <a:r>
              <a:rPr/>
              <a:t>：与企业联合研发特定材料，享有成果转化收益分成，单项目收益超千万元。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商业模式与落地路径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4.1 盈利模式</a:t>
            </a:r>
          </a:p>
          <a:p>
            <a:pPr lvl="0"/>
            <a:r>
              <a:rPr/>
              <a:t>软件授权收入：占比40%，包括SaaS订阅和私有化部署授权</a:t>
            </a:r>
          </a:p>
          <a:p>
            <a:pPr lvl="0"/>
            <a:r>
              <a:rPr/>
              <a:t>技术服务收入：占比35%，包括定制化开发、联合研发服务</a:t>
            </a:r>
          </a:p>
          <a:p>
            <a:pPr lvl="0"/>
            <a:r>
              <a:rPr/>
              <a:t>成果转化收入：占比25%，包括专利授权、落地项目收益分成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4.2 落地路径</a:t>
            </a:r>
          </a:p>
          <a:p>
            <a:pPr lvl="0" indent="-342900" marL="342900">
              <a:buAutoNum type="arabicPeriod"/>
            </a:pPr>
            <a:r>
              <a:rPr/>
              <a:t>2026年：深耕新能源、半导体材料领域，客户突破100家，营收突破5000万元</a:t>
            </a:r>
          </a:p>
          <a:p>
            <a:pPr lvl="0" indent="-342900" marL="342900">
              <a:buAutoNum type="arabicPeriod"/>
            </a:pPr>
            <a:r>
              <a:rPr/>
              <a:t>2027年：拓展航空航天、生物医药材料领域，客户突破300家，营收突破2亿元</a:t>
            </a:r>
          </a:p>
          <a:p>
            <a:pPr lvl="0" indent="-342900" marL="342900">
              <a:buAutoNum type="arabicPeriod"/>
            </a:pPr>
            <a:r>
              <a:rPr/>
              <a:t>2028年：成为国内AI材料研发赛道龙头，市占率超20%，启动IPO申报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竞争格局与核心优势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5.1 竞争格局</a:t>
            </a:r>
          </a:p>
          <a:p>
            <a:pPr lvl="0" indent="0" marL="0">
              <a:buNone/>
            </a:pPr>
            <a:r>
              <a:rPr/>
              <a:t>当前国内AI材料研发赛道玩家主要分为三类： 1. 互联网巨头跨界：如百度、阿里，技术强但行业理解不足 2. 初创公司：如深势科技、魔材科技，融资多但落地能力弱 3. 科研院所孵化团队：如和光智成，行业资源丰富，落地能力强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5.2 核心优势</a:t>
            </a:r>
          </a:p>
          <a:p>
            <a:pPr lvl="0" indent="-342900" marL="342900">
              <a:buAutoNum type="arabicPeriod"/>
            </a:pPr>
            <a:r>
              <a:rPr b="1"/>
              <a:t>技术壁垒</a:t>
            </a:r>
            <a:r>
              <a:rPr/>
              <a:t>：核心团队深耕材料科学领域20年，拥有独家的材料数据集和算法专利，大模型准确率行业领先。</a:t>
            </a:r>
          </a:p>
          <a:p>
            <a:pPr lvl="0" indent="-342900" marL="342900">
              <a:buAutoNum type="arabicPeriod"/>
            </a:pPr>
            <a:r>
              <a:rPr b="1"/>
              <a:t>资源优势</a:t>
            </a:r>
            <a:r>
              <a:rPr/>
              <a:t>：与北航、中科院等10+顶尖科研机构建立深度合作，拥有丰富的行业客户资源和专家资源。</a:t>
            </a:r>
          </a:p>
          <a:p>
            <a:pPr lvl="0" indent="-342900" marL="342900">
              <a:buAutoNum type="arabicPeriod"/>
            </a:pPr>
            <a:r>
              <a:rPr b="1"/>
              <a:t>落地优势</a:t>
            </a:r>
            <a:r>
              <a:rPr/>
              <a:t>：已落地30+付费客户，验证了商业模式的可行性，客户留存率超90%。</a:t>
            </a:r>
          </a:p>
          <a:p>
            <a:pPr lvl="0" indent="-342900" marL="342900">
              <a:buAutoNum type="arabicPeriod"/>
            </a:pPr>
            <a:r>
              <a:rPr b="1"/>
              <a:t>团队优势</a:t>
            </a:r>
            <a:r>
              <a:rPr/>
              <a:t>：核心团队兼具学术背景和产业经验，既有顶尖科研能力，也有商业化落地能力。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核心团队介绍</a:t>
            </a:r>
          </a:p>
          <a:p>
            <a:pPr lvl="0"/>
            <a:r>
              <a:rPr b="1"/>
              <a:t>刘宇宙 创始人/CEO</a:t>
            </a:r>
            <a:r>
              <a:rPr/>
              <a:t>：北京航空航天大学化学学院教授，博士生导师，AI材料科学领域顶尖专家，拥有15年材料研发经验，20+项发明专利，曾主导多项国家级科研项目。</a:t>
            </a:r>
          </a:p>
          <a:p>
            <a:pPr lvl="0"/>
            <a:r>
              <a:rPr b="1"/>
              <a:t>张XX 联合创始人/CTO</a:t>
            </a:r>
            <a:r>
              <a:rPr/>
              <a:t>：清华大学计算机系博士，前百度深度学习研究院高级研究员，拥有10年AI大模型研发经验。</a:t>
            </a:r>
          </a:p>
          <a:p>
            <a:pPr lvl="0"/>
            <a:r>
              <a:rPr b="1"/>
              <a:t>李XX 联合创始人/COO</a:t>
            </a:r>
            <a:r>
              <a:rPr/>
              <a:t>：前中建材新材料事业部总监，拥有15年新材料行业产业经验，丰富的客户资源和供应链资源。</a:t>
            </a:r>
          </a:p>
          <a:p>
            <a:pPr lvl="0"/>
            <a:r>
              <a:rPr b="1"/>
              <a:t>王XX 首席科学家</a:t>
            </a:r>
            <a:r>
              <a:rPr/>
              <a:t>：中科院化学所研究员，国家杰出青年基金获得者，材料计算领域权威专家。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5年财务预测模型</a:t>
            </a:r>
          </a:p>
          <a:p>
            <a:pPr lvl="0" indent="0" marL="0">
              <a:buNone/>
            </a:pPr>
            <a:r>
              <a:rPr/>
              <a:t>单位：万元人民币 | 指标 | 2026年 | 2027年 | 2028年 | 2029年 | 2030年 | 复合增长率 | |———————|——–|——–|——–|——–|——–|————| | 营业收入 | 5000 | 20000 | 60000 | 150000 | 300000 | 137% | | - 软件授权收入 | 2000 | 8000 | 24000 | 60000 | 120000 | 137% | | - 技术服务收入 | 1750 | 7000 | 21000 | 52500 | 105000 | 137% | | - 成果转化收入 | 1250 | 5000 | 15000 | 37500 | 75000 | 137% | | 营业成本 | 2000 | 7000 | 18000 | 42000 | 80000 | 109% | | 毛利润 | 3000 | 13000 | 42000 | 108000 | 220000 | 141% | | 毛利率 | 60% | 65% | 70% | 72% | 73% | - | | 期间费用 | 4000 | 9000 | 20000 | 40000 | 70000 | 104% | | - 研发费用 | 2000 | 4000 | 8000 | 15000 | 25000 | 88% | | - 销售费用 | 1500 | 3500 | 8000 | 18000 | 32000 | 114% | | - 管理费用 | 500 | 1500 | 4000 | 7000 | 13000 | 126% | | 净利润 | -1000 | 4000 | 22000 | 68000 | 150000 | 230% | | 净利率 | -20% | 20% | 36.7% | 45.3% | 50% | - | | 经营活动现金流净额 | -800 | 3000 | 18000 | 58000 | 130000 | - |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核心假设</a:t>
            </a:r>
          </a:p>
          <a:p>
            <a:pPr lvl="0" indent="-342900" marL="342900">
              <a:buAutoNum type="arabicPeriod"/>
            </a:pPr>
            <a:r>
              <a:rPr/>
              <a:t>客户增速保持每年200%以上，客单价稳步提升</a:t>
            </a:r>
          </a:p>
          <a:p>
            <a:pPr lvl="0" indent="-342900" marL="342900">
              <a:buAutoNum type="arabicPeriod"/>
            </a:pPr>
            <a:r>
              <a:rPr/>
              <a:t>毛利率随规模效应持续提升，稳定在70%以上</a:t>
            </a:r>
          </a:p>
          <a:p>
            <a:pPr lvl="0" indent="-342900" marL="342900">
              <a:buAutoNum type="arabicPeriod"/>
            </a:pPr>
            <a:r>
              <a:rPr/>
              <a:t>研发费用率逐年下降，从40%降至10%左右</a:t>
            </a:r>
          </a:p>
          <a:p>
            <a:pPr lvl="0" indent="-342900" marL="342900">
              <a:buAutoNum type="arabicPeriod"/>
            </a:pPr>
            <a:r>
              <a:rPr/>
              <a:t>无重大政策风险和市场竞争风险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融资计划与资金用途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8.1 融资计划</a:t>
            </a:r>
          </a:p>
          <a:p>
            <a:pPr lvl="0"/>
            <a:r>
              <a:rPr/>
              <a:t>融资轮次：Pre-A轮</a:t>
            </a:r>
          </a:p>
          <a:p>
            <a:pPr lvl="0"/>
            <a:r>
              <a:rPr/>
              <a:t>融资金额：5000万元人民币</a:t>
            </a:r>
          </a:p>
          <a:p>
            <a:pPr lvl="0"/>
            <a:r>
              <a:rPr/>
              <a:t>释放股权：10%</a:t>
            </a:r>
          </a:p>
          <a:p>
            <a:pPr lvl="0"/>
            <a:r>
              <a:rPr/>
              <a:t>投后估值：5亿元人民币</a:t>
            </a:r>
          </a:p>
          <a:p>
            <a:pPr lvl="0"/>
            <a:r>
              <a:rPr/>
              <a:t>资金到位时间：2026年6月前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资金用途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金额（万元）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占比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产品研发与迭代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市场拓展与销售团队建设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团队扩张与人才招聘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运营资金储备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合计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8.3 退出路径</a:t>
            </a:r>
          </a:p>
          <a:p>
            <a:pPr lvl="0" indent="-342900" marL="342900">
              <a:buAutoNum type="arabicPeriod"/>
            </a:pPr>
            <a:r>
              <a:rPr/>
              <a:t>IPO：预计2028年申报科创板或创业板，预期投资回报10-20倍</a:t>
            </a:r>
          </a:p>
          <a:p>
            <a:pPr lvl="0" indent="-342900" marL="342900">
              <a:buAutoNum type="arabicPeriod"/>
            </a:pPr>
            <a:r>
              <a:rPr/>
              <a:t>并购：被行业龙头企业或互联网巨头并购，预期投资回报5-10倍</a:t>
            </a:r>
          </a:p>
          <a:p>
            <a:pPr lvl="0" indent="-342900" marL="342900">
              <a:buAutoNum type="arabicPeriod"/>
            </a:pPr>
            <a:r>
              <a:rPr/>
              <a:t>老股转让：下一轮融资时可安排老股转让退出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迭代历史</a:t>
            </a:r>
          </a:p>
          <a:p>
            <a:pPr lvl="0"/>
            <a:r>
              <a:rPr/>
              <a:t>V1.0（2026年3月15日）：内部评审版，完成核心框架搭建</a:t>
            </a:r>
          </a:p>
          <a:p>
            <a:pPr lvl="0"/>
            <a:r>
              <a:rPr/>
              <a:t>V2.0（2026年4月10日）：专家评审版，优化财务模型和市场分析</a:t>
            </a:r>
          </a:p>
          <a:p>
            <a:pPr lvl="0"/>
            <a:r>
              <a:rPr/>
              <a:t>V3.0（2026年4月23日）：终稿，完成所有章节优化，通过最终评审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2026-04-23T08:52:06Z</dcterms:created>
  <dcterms:modified xsi:type="dcterms:W3CDTF">2026-04-23T08:52:06Z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