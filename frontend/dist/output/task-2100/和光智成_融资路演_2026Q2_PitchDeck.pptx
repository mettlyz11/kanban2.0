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2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和光智成 Helight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C8DCFF"/>
                </a:solidFill>
              </a:defRPr>
            </a:pPr>
            <a:r>
              <a:t>北航背书的AI材料+药物双擎发现平台</a:t>
            </a:r>
          </a:p>
          <a:p>
            <a:pPr algn="ctr">
              <a:defRPr sz="2400">
                <a:solidFill>
                  <a:srgbClr val="B4C8E6"/>
                </a:solidFill>
              </a:defRPr>
            </a:pPr>
            <a:r>
              <a:t>—— 中国的Periodic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>
                <a:solidFill>
                  <a:srgbClr val="FFFFFF"/>
                </a:solidFill>
              </a:defRPr>
            </a:pPr>
            <a:r>
              <a:t>Pre-A轮融资  |  5,000万-1亿 RMB  |  目标估值 5-8亿</a:t>
            </a:r>
          </a:p>
          <a:p>
            <a:pPr algn="ctr">
              <a:defRPr sz="1800">
                <a:solidFill>
                  <a:srgbClr val="C8C8C8"/>
                </a:solidFill>
              </a:defRPr>
            </a:pPr>
            <a:r>
              <a:t>2026年Q2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93264"/>
                </a:solidFill>
              </a:defRPr>
            </a:pPr>
            <a:r>
              <a:t>执行摘要 (Executive 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【投资亮点】</a:t>
            </a:r>
          </a:p>
          <a:p>
            <a:pPr lvl="1">
              <a:defRPr sz="1800"/>
            </a:pPr>
            <a:r>
              <a:t>赛道爆发：生成式AI材料市场2034年预计$117亿，中国CAGR 31.2%全球领先</a:t>
            </a:r>
          </a:p>
          <a:p>
            <a:pPr lvl="1">
              <a:defRPr sz="1800"/>
            </a:pPr>
            <a:r>
              <a:t>对标验证：Periodic Labs 12个月估值从$1.3B→$70亿（翻7倍），验证商业模式</a:t>
            </a:r>
          </a:p>
          <a:p>
            <a:pPr lvl="1">
              <a:defRPr sz="1800"/>
            </a:pPr>
            <a:r>
              <a:t>技术壁垒：北航联合实验室 + AI算法 + 湿实验自动化闭环</a:t>
            </a:r>
          </a:p>
          <a:p>
            <a:pPr lvl="1">
              <a:defRPr sz="1800"/>
            </a:pPr>
            <a:r>
              <a:t>团队顶配：北航教授领衔，学术界+产业界复合型团队</a:t>
            </a:r>
          </a:p>
          <a:p>
            <a:pPr lvl="1">
              <a:defRPr sz="1800"/>
            </a:pPr>
            <a:r>
              <a:t>里程碑明确：2027年实现盈亏平衡，2028年启动IPO准备</a:t>
            </a:r>
          </a:p>
          <a:p/>
          <a:p>
            <a:pPr>
              <a:defRPr b="1" sz="2000"/>
            </a:pPr>
            <a:r>
              <a:t>【融资需求】</a:t>
            </a:r>
          </a:p>
          <a:p>
            <a:pPr lvl="1">
              <a:defRPr sz="1800"/>
            </a:pPr>
            <a:r>
              <a:t>融资金额：5,000万-10,000万 RMB  |  出让股权：10%-15%  |  目标估值：5-8亿 RMB</a:t>
            </a:r>
          </a:p>
          <a:p>
            <a:pPr lvl="1">
              <a:defRPr sz="1800"/>
            </a:pPr>
            <a:r>
              <a:t>资金用途：研发40% | 市场30% | 团队20% | 运营10%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93264"/>
                </a:solidFill>
              </a:defRPr>
            </a:pPr>
            <a:r>
              <a:t>市场机会 - 万亿级蓝海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【全球AI材料科学市场】</a:t>
            </a:r>
          </a:p>
          <a:p>
            <a:pPr lvl="1">
              <a:defRPr sz="1800"/>
            </a:pPr>
            <a:r>
              <a:t>2026年全球AI融资总额：&gt; $1,300亿</a:t>
            </a:r>
          </a:p>
          <a:p>
            <a:pPr lvl="1">
              <a:defRPr sz="1800"/>
            </a:pPr>
            <a:r>
              <a:t>AI占全球VC比例：61%</a:t>
            </a:r>
          </a:p>
          <a:p>
            <a:pPr lvl="1">
              <a:defRPr sz="1800"/>
            </a:pPr>
            <a:r>
              <a:t>生成式AI材料市场(2034E)：$117亿</a:t>
            </a:r>
          </a:p>
          <a:p>
            <a:pPr lvl="1">
              <a:defRPr sz="1800"/>
            </a:pPr>
            <a:r>
              <a:t>中国AI材料市场CAGR：31.2%</a:t>
            </a:r>
          </a:p>
          <a:p/>
          <a:p>
            <a:pPr>
              <a:defRPr b="1" sz="2000"/>
            </a:pPr>
            <a:r>
              <a:t>【政策红利】</a:t>
            </a:r>
          </a:p>
          <a:p>
            <a:pPr lvl="1">
              <a:defRPr sz="1800"/>
            </a:pPr>
            <a:r>
              <a:t>北京"AI+新材料"战略全面推进</a:t>
            </a:r>
          </a:p>
          <a:p>
            <a:pPr lvl="1">
              <a:defRPr sz="1800"/>
            </a:pPr>
            <a:r>
              <a:t>房山"首都材料谷"180亿产值集群</a:t>
            </a:r>
          </a:p>
          <a:p>
            <a:pPr lvl="1">
              <a:defRPr sz="1800"/>
            </a:pPr>
            <a:r>
              <a:t>中试放大平台政策补贴支持</a:t>
            </a:r>
          </a:p>
          <a:p>
            <a:pPr lvl="1">
              <a:defRPr sz="1800"/>
            </a:pPr>
            <a:r>
              <a:t>Stanford 2026 AI Index：中国论文/专利/工业机器人安装量全球第一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93264"/>
                </a:solidFill>
              </a:defRPr>
            </a:pPr>
            <a:r>
              <a:t>竞品对标分析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【全球竞品估值与营收对比】</a:t>
            </a:r>
          </a:p>
          <a:p>
            <a:pPr lvl="1">
              <a:defRPr sz="1800"/>
            </a:pPr>
            <a:r>
              <a:t>Periodic Labs：$70亿估值 (2026.3)，12个月翻7倍</a:t>
            </a:r>
          </a:p>
          <a:p>
            <a:pPr lvl="1">
              <a:defRPr sz="1800"/>
            </a:pPr>
            <a:r>
              <a:t>XtalPi (晶泰科技)：2025年营收8.026亿 RMB，+201% YoY</a:t>
            </a:r>
          </a:p>
          <a:p>
            <a:pPr lvl="1">
              <a:defRPr sz="1800"/>
            </a:pPr>
            <a:r>
              <a:t>Schrödinger：$2.56亿营收，软件收入+$1.995亿</a:t>
            </a:r>
          </a:p>
          <a:p>
            <a:pPr lvl="1">
              <a:defRPr sz="1800"/>
            </a:pPr>
            <a:r>
              <a:t>Insilico Medicine：$30亿估值，AI药物研发领先</a:t>
            </a:r>
          </a:p>
          <a:p>
            <a:pPr lvl="1">
              <a:defRPr sz="1800"/>
            </a:pPr>
            <a:r>
              <a:t>Kebotix：$12亿估值，AI材料发现</a:t>
            </a:r>
          </a:p>
          <a:p/>
          <a:p>
            <a:pPr>
              <a:defRPr b="1" sz="2000"/>
            </a:pPr>
            <a:r>
              <a:t>【和光智成差异化优势】</a:t>
            </a:r>
          </a:p>
          <a:p>
            <a:pPr lvl="1">
              <a:defRPr sz="1800"/>
            </a:pPr>
            <a:r>
              <a:t>北航背书：空天动力结构强度智能实验北京市重点实验室共建单位</a:t>
            </a:r>
          </a:p>
          <a:p>
            <a:pPr lvl="1">
              <a:defRPr sz="1800"/>
            </a:pPr>
            <a:r>
              <a:t>双轮驱动：材料发现 + 药物发现，分散风险</a:t>
            </a:r>
          </a:p>
          <a:p>
            <a:pPr lvl="1">
              <a:defRPr sz="1800"/>
            </a:pPr>
            <a:r>
              <a:t>中国成本：同等能力下成本仅为海外竞品1/3</a:t>
            </a:r>
          </a:p>
          <a:p>
            <a:pPr lvl="1">
              <a:defRPr sz="1800"/>
            </a:pPr>
            <a:r>
              <a:t>闭环实验：AI算法 + 自动化湿实验平台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93264"/>
                </a:solidFill>
              </a:defRPr>
            </a:pPr>
            <a:r>
              <a:t>技术平台 - AI+实验闭环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【Helight AI材料发现平台】</a:t>
            </a:r>
          </a:p>
          <a:p>
            <a:pPr lvl="1">
              <a:defRPr sz="1800"/>
            </a:pPr>
            <a:r>
              <a:t>全流程AI赋能：分子设计 → 性能预测 → 合成规划 → 自动实验 → 数据反馈</a:t>
            </a:r>
          </a:p>
          <a:p/>
          <a:p>
            <a:pPr>
              <a:defRPr b="1" sz="2000"/>
            </a:pPr>
            <a:r>
              <a:t>【核心技术能力】</a:t>
            </a:r>
          </a:p>
          <a:p>
            <a:pPr lvl="1">
              <a:defRPr sz="1800"/>
            </a:pPr>
            <a:r>
              <a:t>分子生成模型：基于Transformer的逆合成预测，准确率&gt;85%</a:t>
            </a:r>
          </a:p>
          <a:p>
            <a:pPr lvl="1">
              <a:defRPr sz="1800"/>
            </a:pPr>
            <a:r>
              <a:t>性质预测引擎：100+材料性质预测模型，MAE&lt;5%</a:t>
            </a:r>
          </a:p>
          <a:p>
            <a:pPr lvl="1">
              <a:defRPr sz="1800"/>
            </a:pPr>
            <a:r>
              <a:t>实验自动化：集成液体处理机器人，通量提升10倍</a:t>
            </a:r>
          </a:p>
          <a:p>
            <a:pPr lvl="1">
              <a:defRPr sz="1800"/>
            </a:pPr>
            <a:r>
              <a:t>知识图谱：1亿+化合物，1000万+文献数据</a:t>
            </a:r>
          </a:p>
          <a:p/>
          <a:p>
            <a:pPr>
              <a:defRPr b="1" sz="1800"/>
            </a:pPr>
            <a:r>
              <a:t>【技术护城河：数据壁垒 + 算法壁垒 + 实验壁垒 + 人才壁垒】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93264"/>
                </a:solidFill>
              </a:defRPr>
            </a:pPr>
            <a:r>
              <a:t>商业模式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【收入结构演变】</a:t>
            </a:r>
          </a:p>
          <a:p>
            <a:pPr lvl="1">
              <a:defRPr sz="1800"/>
            </a:pPr>
            <a:r>
              <a:t>2026年：技术服务80% + 项目合作20%</a:t>
            </a:r>
          </a:p>
          <a:p>
            <a:pPr lvl="1">
              <a:defRPr sz="1800"/>
            </a:pPr>
            <a:r>
              <a:t>2027年：技术服务50% + SaaS 30% + 项目合作20%</a:t>
            </a:r>
          </a:p>
          <a:p>
            <a:pPr lvl="1">
              <a:defRPr sz="1800"/>
            </a:pPr>
            <a:r>
              <a:t>2028年：SaaS 30% + 技术服务40% + 项目合作30%</a:t>
            </a:r>
          </a:p>
          <a:p/>
          <a:p>
            <a:pPr>
              <a:defRPr b="1" sz="2000"/>
            </a:pPr>
            <a:r>
              <a:t>【定价策略】</a:t>
            </a:r>
          </a:p>
          <a:p>
            <a:pPr lvl="1">
              <a:defRPr sz="1800"/>
            </a:pPr>
            <a:r>
              <a:t>Tier 1 (头部企业)：200-500万/年，3-5家，贡献60%收入</a:t>
            </a:r>
          </a:p>
          <a:p>
            <a:pPr lvl="1">
              <a:defRPr sz="1800"/>
            </a:pPr>
            <a:r>
              <a:t>Tier 2 (中型企业)：50-200万/年，10-15家，贡献30%收入</a:t>
            </a:r>
          </a:p>
          <a:p>
            <a:pPr lvl="1">
              <a:defRPr sz="1800"/>
            </a:pPr>
            <a:r>
              <a:t>Tier 3 (小型企业)：10-50万/年，20-30家，贡献8%收入</a:t>
            </a:r>
          </a:p>
          <a:p>
            <a:pPr lvl="1">
              <a:defRPr sz="1800"/>
            </a:pPr>
            <a:r>
              <a:t>Tier 4 (高校/科研)：1-10万/年，50+家，贡献2%收入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93264"/>
                </a:solidFill>
              </a:defRPr>
            </a:pPr>
            <a:r>
              <a:t>2026 Q2 最新业绩与里程碑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【已达成里程碑 ✅】</a:t>
            </a:r>
          </a:p>
          <a:p>
            <a:pPr lvl="1">
              <a:defRPr sz="1800"/>
            </a:pPr>
            <a:r>
              <a:t>实验室资质：空天动力结构强度智能实验北京市重点实验室共建单位，刘宇宙教授任副主任</a:t>
            </a:r>
          </a:p>
          <a:p>
            <a:pPr lvl="1">
              <a:defRPr sz="1800"/>
            </a:pPr>
            <a:r>
              <a:t>客户突破：签约首批3家付费客户，在谈意向客户10+家</a:t>
            </a:r>
          </a:p>
          <a:p>
            <a:pPr lvl="1">
              <a:defRPr sz="1800"/>
            </a:pPr>
            <a:r>
              <a:t>融资进展：陈俊宇（陈总）主动索要BP，水木创投李林泽主动联系</a:t>
            </a:r>
          </a:p>
          <a:p/>
          <a:p>
            <a:pPr>
              <a:defRPr b="1" sz="2000"/>
            </a:pPr>
            <a:r>
              <a:t>【Q2-Q3 目标 🎯】</a:t>
            </a:r>
          </a:p>
          <a:p>
            <a:pPr lvl="1">
              <a:defRPr sz="1800"/>
            </a:pPr>
            <a:r>
              <a:t>完成Pre-A轮融资 (5000万-1亿)</a:t>
            </a:r>
          </a:p>
          <a:p>
            <a:pPr lvl="1">
              <a:defRPr sz="1800"/>
            </a:pPr>
            <a:r>
              <a:t>签约10家付费客户，营收突破500万</a:t>
            </a:r>
          </a:p>
          <a:p>
            <a:pPr lvl="1">
              <a:defRPr sz="1800"/>
            </a:pPr>
            <a:r>
              <a:t>申请发明专利5-8项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93264"/>
                </a:solidFill>
              </a:defRPr>
            </a:pPr>
            <a:r>
              <a:t>财务预测 (2026-2029)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【收入预测 (单位：万元 RMB)】</a:t>
            </a:r>
          </a:p>
          <a:p>
            <a:pPr lvl="1">
              <a:defRPr sz="1800"/>
            </a:pPr>
            <a:r>
              <a:t>2026E：总营收 600万，毛利率65%，净利润-170万</a:t>
            </a:r>
          </a:p>
          <a:p>
            <a:pPr lvl="1">
              <a:defRPr sz="1800"/>
            </a:pPr>
            <a:r>
              <a:t>2027E：总营收 3,000万，毛利率72%，净利润552万 (+400% YoY)</a:t>
            </a:r>
          </a:p>
          <a:p>
            <a:pPr lvl="1">
              <a:defRPr sz="1800"/>
            </a:pPr>
            <a:r>
              <a:t>2028E：总营收 8,000万，毛利率78%，净利润2,000万 (+167% YoY)</a:t>
            </a:r>
          </a:p>
          <a:p>
            <a:pPr lvl="1">
              <a:defRPr sz="1800"/>
            </a:pPr>
            <a:r>
              <a:t>2029E：总营收 20,000万，毛利率82%，净利润6,000万 (+150% YoY)</a:t>
            </a:r>
          </a:p>
          <a:p/>
          <a:p>
            <a:pPr>
              <a:defRPr b="1" sz="2000"/>
            </a:pPr>
            <a:r>
              <a:t>【关键财务指标】</a:t>
            </a:r>
          </a:p>
          <a:p>
            <a:pPr lvl="1">
              <a:defRPr sz="1800"/>
            </a:pPr>
            <a:r>
              <a:t>2027年实现盈亏平衡 | 2028年净利润率达25% | 2029年启动IPO准备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93264"/>
                </a:solidFill>
              </a:defRPr>
            </a:pPr>
            <a:r>
              <a:t>估值测算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【方法一：可比公司法】</a:t>
            </a:r>
          </a:p>
          <a:p>
            <a:pPr lvl="1">
              <a:defRPr sz="1800"/>
            </a:pPr>
            <a:r>
              <a:t>可比公司估值/营收倍数：14x-58x，平均37.8x</a:t>
            </a:r>
          </a:p>
          <a:p>
            <a:pPr lvl="1">
              <a:defRPr sz="1800"/>
            </a:pPr>
            <a:r>
              <a:t>和光智成2027E前瞻估值：3.6亿 - 4.5亿 RMB (12x-15x)</a:t>
            </a:r>
          </a:p>
          <a:p/>
          <a:p>
            <a:pPr>
              <a:defRPr b="1" sz="2000"/>
            </a:pPr>
            <a:r>
              <a:t>【方法二：DCF现金流折现法】</a:t>
            </a:r>
          </a:p>
          <a:p>
            <a:pPr lvl="1">
              <a:defRPr sz="1800"/>
            </a:pPr>
            <a:r>
              <a:t>关键假设：WACC 25%，终值增长率5%</a:t>
            </a:r>
          </a:p>
          <a:p>
            <a:pPr lvl="1">
              <a:defRPr sz="1800"/>
            </a:pPr>
            <a:r>
              <a:t>DCF计算结果：企业价值约6.11亿，股权价值约6.86亿 RMB</a:t>
            </a:r>
          </a:p>
          <a:p/>
          <a:p>
            <a:pPr>
              <a:defRPr b="1" sz="2200">
                <a:solidFill>
                  <a:srgbClr val="C83232"/>
                </a:solidFill>
              </a:defRPr>
            </a:pPr>
            <a:r>
              <a:t>【综合估值结论：5 - 8亿 RMB】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93264"/>
                </a:solidFill>
              </a:defRPr>
            </a:pPr>
            <a:r>
              <a:t>融资计划与资金用途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【本轮融资】</a:t>
            </a:r>
          </a:p>
          <a:p>
            <a:pPr lvl="1">
              <a:defRPr sz="1800"/>
            </a:pPr>
            <a:r>
              <a:t>轮次：Pre-A轮 | 金额：5,000万-10,000万 RMB | 出让股权：10%-15% | 目标估值：5-8亿 RMB</a:t>
            </a:r>
          </a:p>
          <a:p/>
          <a:p>
            <a:pPr>
              <a:defRPr b="1" sz="2000"/>
            </a:pPr>
            <a:r>
              <a:t>【资金用途】</a:t>
            </a:r>
          </a:p>
          <a:p>
            <a:pPr lvl="1">
              <a:defRPr sz="1800"/>
            </a:pPr>
            <a:r>
              <a:t>研发投入 40% (3,000万)：AI算法研发、实验平台建设、专利布局</a:t>
            </a:r>
          </a:p>
          <a:p>
            <a:pPr lvl="1">
              <a:defRPr sz="1800"/>
            </a:pPr>
            <a:r>
              <a:t>市场拓展 30% (2,250万)：销售团队、市场推广、客户成功</a:t>
            </a:r>
          </a:p>
          <a:p>
            <a:pPr lvl="1">
              <a:defRPr sz="1800"/>
            </a:pPr>
            <a:r>
              <a:t>团队建设 20% (1,500万)：核心人才招聘、股权激励</a:t>
            </a:r>
          </a:p>
          <a:p>
            <a:pPr lvl="1">
              <a:defRPr sz="1800"/>
            </a:pPr>
            <a:r>
              <a:t>运营资金 10% (750万)</a:t>
            </a:r>
          </a:p>
          <a:p/>
          <a:p>
            <a:pPr>
              <a:defRPr b="1" sz="1600"/>
            </a:pPr>
            <a:r>
              <a:t>【投资人优先级：北航系基金 → 硬科技VC → 产业资本 → 政府引导基金 → 天使投资人】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93264"/>
                </a:solidFill>
              </a:defRPr>
            </a:pPr>
            <a:r>
              <a:t>里程碑与退出路径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【关键里程碑】</a:t>
            </a:r>
          </a:p>
          <a:p>
            <a:pPr lvl="1">
              <a:defRPr sz="1800"/>
            </a:pPr>
            <a:r>
              <a:t>2026 Q3：完成Pre-A轮融资</a:t>
            </a:r>
          </a:p>
          <a:p>
            <a:pPr lvl="1">
              <a:defRPr sz="1800"/>
            </a:pPr>
            <a:r>
              <a:t>2026 Q4：签约10+客户，营收500万+</a:t>
            </a:r>
          </a:p>
          <a:p>
            <a:pPr lvl="1">
              <a:defRPr sz="1800"/>
            </a:pPr>
            <a:r>
              <a:t>2027 Q2：实现盈亏平衡</a:t>
            </a:r>
          </a:p>
          <a:p>
            <a:pPr lvl="1">
              <a:defRPr sz="1800"/>
            </a:pPr>
            <a:r>
              <a:t>2027 Q4：年营收3,000万，启动A轮</a:t>
            </a:r>
          </a:p>
          <a:p>
            <a:pPr lvl="1">
              <a:defRPr sz="1800"/>
            </a:pPr>
            <a:r>
              <a:t>2028 Q4：年营收8,000万，净利润2,000万</a:t>
            </a:r>
          </a:p>
          <a:p>
            <a:pPr lvl="1">
              <a:defRPr sz="1800"/>
            </a:pPr>
            <a:r>
              <a:t>2029 H2：启动IPO准备工作</a:t>
            </a:r>
          </a:p>
          <a:p/>
          <a:p>
            <a:pPr>
              <a:defRPr b="1" sz="2000"/>
            </a:pPr>
            <a:r>
              <a:t>【退出路径】</a:t>
            </a:r>
          </a:p>
          <a:p>
            <a:pPr lvl="1">
              <a:defRPr sz="1800"/>
            </a:pPr>
            <a:r>
              <a:t>IPO：科创板/北交所（2029-2030）</a:t>
            </a:r>
          </a:p>
          <a:p>
            <a:pPr lvl="1">
              <a:defRPr sz="1800"/>
            </a:pPr>
            <a:r>
              <a:t>并购：头部材料企业/药企战略收购</a:t>
            </a:r>
          </a:p>
          <a:p>
            <a:pPr lvl="1">
              <a:defRPr sz="1800"/>
            </a:pPr>
            <a:r>
              <a:t>下一轮退出：A/B轮老股转让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2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感谢您的关注！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C8DCFF"/>
                </a:solidFill>
              </a:defRPr>
            </a:pPr>
            <a:r>
              <a:t>和光智成（北京）科技有限公司</a:t>
            </a:r>
          </a:p>
          <a:p>
            <a:pPr algn="ctr">
              <a:defRPr sz="2000">
                <a:solidFill>
                  <a:srgbClr val="B4C8E6"/>
                </a:solidFill>
              </a:defRPr>
            </a:pPr>
            <a:r>
              <a:t>地址：北京市海淀区北京航空航天大学</a:t>
            </a:r>
          </a:p>
          <a:p>
            <a:pPr algn="ctr">
              <a:defRPr sz="2000">
                <a:solidFill>
                  <a:srgbClr val="B4C8E6"/>
                </a:solidFill>
              </a:defRPr>
            </a:pPr>
            <a:r>
              <a:t>联系人：刘宇宙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