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和光智成 HelixMind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0099CC"/>
                </a:solidFill>
              </a:defRPr>
            </a:pPr>
            <a:r>
              <a:t>AI驱动的材料科学计算平台</a:t>
            </a:r>
          </a:p>
          <a:p>
            <a:pPr algn="ctr">
              <a:defRPr sz="2000">
                <a:solidFill>
                  <a:srgbClr val="0099CC"/>
                </a:solidFill>
              </a:defRPr>
            </a:pPr>
            <a:r>
              <a:t>Q2 2026融资路演</a:t>
            </a:r>
          </a:p>
          <a:p>
            <a:pPr algn="ctr">
              <a:defRPr sz="2000">
                <a:solidFill>
                  <a:srgbClr val="0099CC"/>
                </a:solidFill>
              </a:defRPr>
            </a:pPr>
          </a:p>
          <a:p>
            <a:pPr algn="ctr">
              <a:defRPr sz="2000">
                <a:solidFill>
                  <a:srgbClr val="0099CC"/>
                </a:solidFill>
              </a:defRPr>
            </a:pPr>
            <a:r>
              <a:t>预A轮 · 融资额：2000万人民币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公司定位：中国领先的AI for Science材料计算平台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核心技术：量子力学 + 分子动力学 + 大语言模型三位一体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市场机会：全球AI科学计算市场2033年将达4.8万亿美元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商业模式：SaaS订阅 + 定制开发 + 联合研发分成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业绩进展：已签约5家付费客户，MRR达15万元，预计2026年底MRR达100万元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融资计划：2000万人民币，投前估值2亿人民币，出让10%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资金用途：产品研发40% + 市场销售35% + 团队扩张15% + 运营资金10%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市场机会与增长预测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市场领域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市场规模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增长率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全球AI生命科学市场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$29.3亿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27.3% CAGR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AI药物发现市场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$49亿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2028E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40.2% CAGR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全球AI市场总规模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$4.8万亿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2033E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UNCTAD预测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中国材料数字化市场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¥500亿+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年均增长35%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竞品对标分析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总部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营收/ARR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核心优势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我们的差异化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Schrödinger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美国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$2.56亿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30年技术积累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本地化+价格优势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Benchling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美国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$1.85亿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生物SaaS龙头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材料科学垂直深度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COMSOL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瑞典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$2亿+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多物理场成熟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AI原生+云端部署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和光智成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¥180万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AI+材料科学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本土场景适配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商业模式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【SaaS订阅模式 - 标准化收入】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团队版：¥9,800/用户/年，适合中小团队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企业版：¥98,000+/年，多用户+定制化功能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旗舰版：定制报价，全功能+专属服务+API访问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【定制开发服务 - 项目制收入】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针对大型企业特定材料研发场景的定制解决方案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项目收费：¥50万-500万/项目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【联合研发分成 - 长期价值】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与材料企业联合开发高价值新材料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收益模式：技术服务费 + 专利授权费 + 销售分成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2026-2030财务预测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年度营收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客户数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毛利率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净利润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¥180万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30家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-¥800万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2027E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¥800万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80家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-¥500万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2028E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¥2,500万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180家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¥200万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2029E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¥6,000万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350家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¥1,200万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2030E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¥12,000万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600家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¥3,600万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估值分析 - 可比公司法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营收/ARR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估值倍数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商业模式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Benchling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$61亿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$1.85亿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33x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纯SaaS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Insilico Medicine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$24亿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$0.75亿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SaaS+管线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Schrödinger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$40亿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$2.56亿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16x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平台+管线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Viva Biotech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$2.4亿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服务为主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和光智成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¥2亿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¥0.18亿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11x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SaaS+服务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核心团队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刘宇宙博士 - 创始人 &amp; CEO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北京航空航天大学化学学院教授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AI+材料科学交叉领域权威专家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和光系生态资源支持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技术团队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AI算法团队：来自清北、中科院的AI/ML专家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计算科学团队：量子化学、分子动力学领域专家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工程团队：来自一线互联网公司的资深工程师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顾问团队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多位材料科学、AI领域院士/知名学者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产业界资深人士提供商业化指导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关键里程碑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业务里程碑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团队/运营里程碑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 Q2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完成预A轮融资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团队扩张至30人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 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发布V2.0产品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客户数突破20家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 Q4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MRR达到100万元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启动A轮融资准备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2027 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完成A轮融资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客户数突破50家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2027 H2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营收突破800万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启动国际化探索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融资需求与资金用途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【融资方案】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轮次：Pre-A轮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融资金额：2000万人民币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投前估值：2亿人民币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出让股权：10%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资金使用周期：18-24个月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【资金用途】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产品研发（40% = 800万）：核心算法、产品功能迭代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市场销售（35% = 700万）：销售团队、市场推广、客户成功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团队扩张（15% = 300万）：核心人才招聘、股权激励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运营资金（10% = 200万）：云服务、办公、法务财务等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核心KPI与退出路径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【本轮关键KPI（18个月）】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营收达到 ¥800万，ARR突破 ¥1000万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付费客户数达到 80家以上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客户留存率 &gt; 85%，NRR &gt; 120%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毛利率提升至 70%+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【潜在退出路径】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IPO：科创板/港交所18C章（预计2029-2030年）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战略收购：被工业软件巨头、材料企业收购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后续融资：A轮、B轮持续融资，实现长期增长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感谢您的关注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0099CC"/>
                </a:solidFill>
              </a:defRPr>
            </a:pPr>
            <a:r>
              <a:t>和光智成 HelixMind</a:t>
            </a:r>
          </a:p>
          <a:p>
            <a:pPr algn="ctr">
              <a:defRPr sz="2000">
                <a:solidFill>
                  <a:srgbClr val="0099CC"/>
                </a:solidFill>
              </a:defRPr>
            </a:pPr>
            <a:r>
              <a:t>AI驱动的材料科学计算平台</a:t>
            </a:r>
          </a:p>
          <a:p>
            <a:pPr algn="ctr">
              <a:defRPr sz="2000">
                <a:solidFill>
                  <a:srgbClr val="0099CC"/>
                </a:solidFill>
              </a:defRPr>
            </a:pPr>
          </a:p>
          <a:p>
            <a:pPr algn="ctr">
              <a:defRPr sz="2000">
                <a:solidFill>
                  <a:srgbClr val="0099CC"/>
                </a:solidFill>
              </a:defRPr>
            </a:pPr>
            <a:r>
              <a:t>刘宇宙</a:t>
            </a:r>
          </a:p>
          <a:p>
            <a:pPr algn="ctr">
              <a:defRPr sz="2000">
                <a:solidFill>
                  <a:srgbClr val="0099CC"/>
                </a:solidFill>
              </a:defRPr>
            </a:pPr>
            <a:r>
              <a:t>CEO</a:t>
            </a:r>
          </a:p>
          <a:p>
            <a:pPr algn="ctr">
              <a:defRPr sz="2000">
                <a:solidFill>
                  <a:srgbClr val="0099CC"/>
                </a:solidFill>
              </a:defRPr>
            </a:pPr>
            <a:r>
              <a:t>liuyuzhou@helixmind.ai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